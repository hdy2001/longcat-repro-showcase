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Page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566928" cy="32004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7175" y="274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01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市场已成立，但还没有新的全民社交网络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收入与下载已具规模，但收入集中于少数产品，美国成人的陪伴用途仍属少数。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548640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600200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经营规模（可变现需求已出现）</a:t>
            </a:r>
          </a:p>
        </p:txBody>
      </p:sp>
      <p:sp>
        <p:nvSpPr>
          <p:cNvPr id="9" name="Oval 8"/>
          <p:cNvSpPr/>
          <p:nvPr/>
        </p:nvSpPr>
        <p:spPr>
          <a:xfrm>
            <a:off x="667512" y="1984248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56816"/>
            <a:ext cx="4736592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移动变现｜2026Q1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全球 AI Companion 移动 IAP 约 1.5 亿美元；季度收入较 2023Q1 超过 12 倍。</a:t>
            </a:r>
          </a:p>
        </p:txBody>
      </p:sp>
      <p:sp>
        <p:nvSpPr>
          <p:cNvPr id="11" name="Oval 10"/>
          <p:cNvSpPr/>
          <p:nvPr/>
        </p:nvSpPr>
        <p:spPr>
          <a:xfrm>
            <a:off x="667512" y="2939796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12364"/>
            <a:ext cx="4736592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获客规模｜2026Q1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全球下载 8,300 万次，新增用户获取仍在扩张。</a:t>
            </a:r>
          </a:p>
        </p:txBody>
      </p:sp>
      <p:sp>
        <p:nvSpPr>
          <p:cNvPr id="13" name="Oval 12"/>
          <p:cNvSpPr/>
          <p:nvPr/>
        </p:nvSpPr>
        <p:spPr>
          <a:xfrm>
            <a:off x="667512" y="3895344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67912"/>
            <a:ext cx="4736592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收入集中｜2025 年中口径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337 个仍活跃且产生收入的专门陪伴 App；头部 10% 获取约 89% 品类收入。</a:t>
            </a:r>
          </a:p>
        </p:txBody>
      </p:sp>
      <p:sp>
        <p:nvSpPr>
          <p:cNvPr id="15" name="Oval 14"/>
          <p:cNvSpPr/>
          <p:nvPr/>
        </p:nvSpPr>
        <p:spPr>
          <a:xfrm>
            <a:off x="667512" y="48508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23460"/>
            <a:ext cx="4736592" cy="86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成人用途｜美国，2026</a:t>
            </a:r>
          </a:p>
          <a:p>
            <a:pPr algn="l">
              <a:lnSpc>
                <a:spcPct val="102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4% 美国成人用聊天机器人获取陪伴；10% 用于情绪支持或建议。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481328"/>
            <a:ext cx="5486400" cy="4389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4224" y="1600200"/>
            <a:ext cx="51572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普及边界（定义与样本）</a:t>
            </a:r>
          </a:p>
        </p:txBody>
      </p:sp>
      <p:sp>
        <p:nvSpPr>
          <p:cNvPr id="19" name="Oval 18"/>
          <p:cNvSpPr/>
          <p:nvPr/>
        </p:nvSpPr>
        <p:spPr>
          <a:xfrm>
            <a:off x="6364224" y="203911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993392"/>
            <a:ext cx="473659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核心讨论范围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AI 原生关系、AI 内容社区与 AI 增强真人社交。</a:t>
            </a:r>
          </a:p>
        </p:txBody>
      </p:sp>
      <p:sp>
        <p:nvSpPr>
          <p:cNvPr id="21" name="Oval 20"/>
          <p:cNvSpPr/>
          <p:nvPr/>
        </p:nvSpPr>
        <p:spPr>
          <a:xfrm>
            <a:off x="6364224" y="391363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867912"/>
            <a:ext cx="473659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外部替代与分发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平台内嵌 AI 与免费捆绑；不计入核心陪伴市场规模。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52120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口径提示：</a:t>
            </a:r>
            <a:r>
              <a:rPr sz="85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不同调查的陪伴定义与样本不同，跨国、跨年份不可直接比较。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989320"/>
            <a:ext cx="64008" cy="566928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4088" y="6117336"/>
            <a:ext cx="310896" cy="310896"/>
          </a:xfrm>
          <a:prstGeom prst="ellipse">
            <a:avLst/>
          </a:prstGeom>
          <a:noFill/>
          <a:ln w="20320">
            <a:solidFill>
              <a:srgbClr val="D2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1138" y="6204386"/>
            <a:ext cx="136794" cy="13679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5989320"/>
            <a:ext cx="103171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先评估具体关系场景与付费能力，再判断平台化空间。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E4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60196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8A8380"/>
                </a:solidFill>
                <a:latin typeface="微软雅黑"/>
                <a:ea typeface="微软雅黑"/>
                <a:cs typeface="微软雅黑"/>
              </a:rPr>
              <a:t>来源：Sensor Tower、Appfigures、Pew、Common Sense Media；移动 IAP 与下载为估算口径，不含广告、Web、平台内嵌和硬件。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Page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566928" cy="32004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7175" y="274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02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中国玩家分争综合角色平台、垂直社区与真人社交增益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关系类型、内容供给与变现路径各不相同，应先选择竞争路线，再确定对标对象。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5855" cy="18105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2249424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240280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综合角色平台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7752" y="1609344"/>
            <a:ext cx="14630" cy="1554480"/>
          </a:xfrm>
          <a:prstGeom prst="rect">
            <a:avLst/>
          </a:prstGeom>
          <a:solidFill>
            <a:srgbClr val="D8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34639" y="1609344"/>
            <a:ext cx="4317339" cy="1554480"/>
          </a:xfrm>
          <a:prstGeom prst="roundRect">
            <a:avLst>
              <a:gd name="adj" fmla="val 6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719072"/>
            <a:ext cx="40247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猫箱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993392"/>
            <a:ext cx="402473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AI 角色、剧情与语音陪伴，体现产品化与付费能力。2026Q1 中国 iOS 生成式 AI 应用收入第 1；累计移动端消费者支出超 2,200 万美元（第三方估算）。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1435" y="1609344"/>
            <a:ext cx="4317339" cy="1554480"/>
          </a:xfrm>
          <a:prstGeom prst="roundRect">
            <a:avLst>
              <a:gd name="adj" fmla="val 6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17739" y="1719072"/>
            <a:ext cx="40247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星野 / Talkie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7739" y="1993392"/>
            <a:ext cx="4024731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UGC 角色与多模态互动，采用广告与订阅混合变现。2025 年前 9 个月合计平均 MAU 2,005.1 万、收入 1,875 万美元，广告约占 60%。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19856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3877056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3867912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垂直叙事 / IP 社区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87752" y="3547872"/>
            <a:ext cx="14630" cy="932688"/>
          </a:xfrm>
          <a:prstGeom prst="rect">
            <a:avLst/>
          </a:prstGeom>
          <a:solidFill>
            <a:srgbClr val="D8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39" y="387705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筑梦岛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3849624"/>
            <a:ext cx="755568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女性向叙事与创作者 / IP 社区，依靠明确人群与内容供给定位。接近 500 万注册用户、约 80% 年轻女性、逾 50 万创作者（公司口径经媒体转引）。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736592"/>
            <a:ext cx="11185855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51937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" y="5184648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真人社交 AI 增益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87752" y="4864607"/>
            <a:ext cx="14630" cy="932688"/>
          </a:xfrm>
          <a:prstGeom prst="rect">
            <a:avLst/>
          </a:prstGeom>
          <a:solidFill>
            <a:srgbClr val="D8C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39" y="519379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Soul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5166360"/>
            <a:ext cx="7555687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93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AI 为既有真人社交提供匹配与沟通增益，核心关系仍由真人承担。2025 年前 8 个月平均 DAU 1,100 万；AI Boosters 日均活跃 460 万（港交所材料）。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989320"/>
            <a:ext cx="64008" cy="566928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4088" y="6117336"/>
            <a:ext cx="310896" cy="310896"/>
          </a:xfrm>
          <a:prstGeom prst="ellipse">
            <a:avLst/>
          </a:prstGeom>
          <a:noFill/>
          <a:ln w="20320">
            <a:solidFill>
              <a:srgbClr val="D2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91138" y="6204386"/>
            <a:ext cx="136794" cy="13679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61288" y="5989320"/>
            <a:ext cx="103171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综合平台看关系留存，垂类社区看优质供给，真人社交看真实关系结果。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E4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60196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8A8380"/>
                </a:solidFill>
                <a:latin typeface="微软雅黑"/>
                <a:ea typeface="微软雅黑"/>
                <a:cs typeface="微软雅黑"/>
              </a:rPr>
              <a:t>来源：Sensor Tower、Appfigures、36Kr、Soul 港交所材料；Soul 平台收入含 AI 收入；公司口径经媒体转引。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Page 03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566928" cy="32004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7175" y="274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03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海外竞争围绕四类优势展开，尚无稳定通吃者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长期记忆、创作者供给、既有入口和真实关系，分别支撑不同产品路线；长期效果仍需检验。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11185855" cy="310896"/>
          </a:xfrm>
          <a:prstGeom prst="roundRect">
            <a:avLst>
              <a:gd name="adj" fmla="val 30000"/>
            </a:avLst>
          </a:prstGeom>
          <a:solidFill>
            <a:srgbClr val="F3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08760"/>
            <a:ext cx="1207008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优势类型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508760"/>
            <a:ext cx="57607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代表产品 · 已有动作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550615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待验证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65376"/>
            <a:ext cx="11185855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1208" y="22219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7955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关系深度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947672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Replika / Nomi / Kindroid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94560"/>
            <a:ext cx="576072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长期记忆、人格与持续陪伴，让价值从单次回答转向关系连续性。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865376"/>
            <a:ext cx="364205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待验证｜</a:t>
            </a: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长期留存、心理安全与高推理成本能否兼容。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862072"/>
            <a:ext cx="11002975" cy="10972"/>
          </a:xfrm>
          <a:prstGeom prst="rect">
            <a:avLst/>
          </a:prstGeom>
          <a:solidFill>
            <a:srgbClr val="EE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2894076"/>
            <a:ext cx="11185855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8" y="32506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985516"/>
            <a:ext cx="7955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内容生态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2976372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Character.AI；CHAI / PolyBuzz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23260"/>
            <a:ext cx="576072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角色、场景、视频与 Remix / Feed 纳入变现；CHAI 与 PolyBuzz 推进移动端广告和订阅。CHAI 自报实验：广告由每 8 条消息一次降至每 16 条一次，D30 留存相对提升 18.5%。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894076"/>
            <a:ext cx="364205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待验证｜</a:t>
            </a: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观看和创作能否形成稳定网络；变现强度是否损害连续互动。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890772"/>
            <a:ext cx="11002975" cy="10972"/>
          </a:xfrm>
          <a:prstGeom prst="rect">
            <a:avLst/>
          </a:prstGeom>
          <a:solidFill>
            <a:srgbClr val="EE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922776"/>
            <a:ext cx="11185855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21208" y="42793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4014215"/>
            <a:ext cx="7955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平台分发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05072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Meta AI / AI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4251960"/>
            <a:ext cx="576072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把 AI 人格嵌入既有社交产品与独立 App，以社交图谱和跨产品入口降低获客摩擦。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922776"/>
            <a:ext cx="364205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待验证｜</a:t>
            </a: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平台品牌与监管边界下，深度角色体验能否持续。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19472"/>
            <a:ext cx="11002975" cy="10972"/>
          </a:xfrm>
          <a:prstGeom prst="rect">
            <a:avLst/>
          </a:prstGeom>
          <a:solidFill>
            <a:srgbClr val="EEE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951476"/>
            <a:ext cx="11185855" cy="9875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1208" y="5308092"/>
            <a:ext cx="274320" cy="274320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5042916"/>
            <a:ext cx="795528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真人关系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033772"/>
            <a:ext cx="5760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Tinder / Bumble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280660"/>
            <a:ext cx="576072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推荐、Chemistry 与 AI Photo Feedback 辅助匹配和表达，最终关系仍由真人承担。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951476"/>
            <a:ext cx="3642055" cy="9875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9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待验证｜</a:t>
            </a: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AI 增益如何归因，并守住身份真实性与隐私边界。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989320"/>
            <a:ext cx="64008" cy="566928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04088" y="6117336"/>
            <a:ext cx="310896" cy="310896"/>
          </a:xfrm>
          <a:prstGeom prst="ellipse">
            <a:avLst/>
          </a:prstGeom>
          <a:noFill/>
          <a:ln w="20320">
            <a:solidFill>
              <a:srgbClr val="D2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1138" y="6204386"/>
            <a:ext cx="136794" cy="13679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5989320"/>
            <a:ext cx="103171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独立产品要验证自身优势，能否抵御平台分发与免费能力的挤压。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E4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660196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8A8380"/>
                </a:solidFill>
                <a:latin typeface="微软雅黑"/>
                <a:ea typeface="微软雅黑"/>
                <a:cs typeface="微软雅黑"/>
              </a:rPr>
              <a:t>来源：原研究所列产品官方披露；截至 2026-08-09。功能上线非网络效应；CHAI 为特定公司实验，非行业结论；四类优势不互斥。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Page 04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566928" cy="32004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17175" y="27432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04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76656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4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未来增长取决于关系价值、单位经济与安全能否同时成立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1858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三种增长情景取决于不同条件，长期经营仍需同时验证关系连续性、内容供给、盈利与治理。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2514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2026 锚点（历史锚点）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1865376"/>
            <a:ext cx="1508760" cy="1508760"/>
          </a:xfrm>
          <a:prstGeom prst="ellipse">
            <a:avLst/>
          </a:prstGeom>
          <a:solidFill>
            <a:srgbClr val="D22630"/>
          </a:solidFill>
          <a:ln w="15875">
            <a:solidFill>
              <a:srgbClr val="A81C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亿美元</a:t>
            </a:r>
          </a:p>
          <a:p>
            <a:pPr algn="ctr"/>
            <a:r>
              <a:rPr sz="850" b="0">
                <a:solidFill>
                  <a:srgbClr val="FFE3E0"/>
                </a:solidFill>
                <a:latin typeface="微软雅黑"/>
                <a:ea typeface="微软雅黑"/>
                <a:cs typeface="微软雅黑"/>
              </a:rPr>
              <a:t>2026 年移动 IAP 运行率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93008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锚点：2026Q1 移动 IAP 1.5 亿美元（简单年化）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历史锚点 → 假设推演（非预测）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1481328"/>
            <a:ext cx="5349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三种情景（条件不同 → 结果不同）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847088"/>
            <a:ext cx="53492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847088"/>
            <a:ext cx="64008" cy="114300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02996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下行｜</a:t>
            </a: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假设 CAGR 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22576"/>
            <a:ext cx="3611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未成年人口收紧、低留存及平台免费捆绑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1993392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2029 年约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8.0 亿美元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651760" y="2418588"/>
            <a:ext cx="621792" cy="201168"/>
          </a:xfrm>
          <a:prstGeom prst="bentConnector3">
            <a:avLst/>
          </a:prstGeom>
          <a:ln w="15240">
            <a:solidFill>
              <a:srgbClr val="D2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273552" y="3136391"/>
            <a:ext cx="53492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73552" y="3136391"/>
            <a:ext cx="64008" cy="1143000"/>
          </a:xfrm>
          <a:prstGeom prst="rect">
            <a:avLst/>
          </a:prstGeom>
          <a:solidFill>
            <a:srgbClr val="A8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3192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基准｜</a:t>
            </a: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假设 CAGR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611879"/>
            <a:ext cx="3611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记忆、语音、角色生态与多元变现改善增长质量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282696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2029 年约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13.2 亿美元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2619756"/>
            <a:ext cx="621792" cy="1088135"/>
          </a:xfrm>
          <a:prstGeom prst="bentConnector3">
            <a:avLst/>
          </a:prstGeom>
          <a:ln w="15240">
            <a:solidFill>
              <a:srgbClr val="D2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273552" y="4425696"/>
            <a:ext cx="5349240" cy="1143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3552" y="4425696"/>
            <a:ext cx="64008" cy="114300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60857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上行｜</a:t>
            </a: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假设 CAGR 50%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01183"/>
            <a:ext cx="3611879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8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多模态、创作者网络效应与可规模化合规共同成立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93992" y="4572000"/>
            <a:ext cx="16916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2029 年约</a:t>
            </a:r>
          </a:p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20.3 亿美元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51760" y="2619756"/>
            <a:ext cx="621792" cy="2377440"/>
          </a:xfrm>
          <a:prstGeom prst="bentConnector3">
            <a:avLst/>
          </a:prstGeom>
          <a:ln w="15240">
            <a:solidFill>
              <a:srgbClr val="D226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878824" y="1481328"/>
            <a:ext cx="280995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经营跟踪指标（持续观察，尚待验证）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78824" y="1865376"/>
            <a:ext cx="1350111" cy="1645920"/>
          </a:xfrm>
          <a:prstGeom prst="roundRect">
            <a:avLst>
              <a:gd name="adj" fmla="val 9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78824" y="1865376"/>
            <a:ext cx="45720" cy="164592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25128" y="2066544"/>
            <a:ext cx="1075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关系连续性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5128" y="2322576"/>
            <a:ext cx="107579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19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30 / 90 日关系留存；记忆命中率与人格稳定性。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78824" y="3602736"/>
            <a:ext cx="1350111" cy="1645920"/>
          </a:xfrm>
          <a:prstGeom prst="roundRect">
            <a:avLst>
              <a:gd name="adj" fmla="val 9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78824" y="3602736"/>
            <a:ext cx="45720" cy="164592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5128" y="3803904"/>
            <a:ext cx="1075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内容供给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5128" y="4059936"/>
            <a:ext cx="107579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19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优质角色、活跃创作者与分成。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38663" y="1865376"/>
            <a:ext cx="1350111" cy="1645920"/>
          </a:xfrm>
          <a:prstGeom prst="roundRect">
            <a:avLst>
              <a:gd name="adj" fmla="val 9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38663" y="1865376"/>
            <a:ext cx="45720" cy="164592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484967" y="2066544"/>
            <a:ext cx="1075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单位经济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84967" y="2322576"/>
            <a:ext cx="107579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19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推理 / 审核成本、贡献毛利与退款率。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8663" y="3602736"/>
            <a:ext cx="1350111" cy="1645920"/>
          </a:xfrm>
          <a:prstGeom prst="roundRect">
            <a:avLst>
              <a:gd name="adj" fmla="val 9000"/>
            </a:avLst>
          </a:prstGeom>
          <a:solidFill>
            <a:srgbClr val="FDF5F4"/>
          </a:solidFill>
          <a:ln w="9525">
            <a:solidFill>
              <a:srgbClr val="E4DA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338663" y="3602736"/>
            <a:ext cx="45720" cy="1645920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84967" y="3803904"/>
            <a:ext cx="107579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50" b="1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关系治理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84967" y="4059936"/>
            <a:ext cx="1075791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19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年龄识别、危机干预与强化儿童安全、地区规则覆盖。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8824" y="5358384"/>
            <a:ext cx="280995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800" b="1">
                <a:solidFill>
                  <a:srgbClr val="D22630"/>
                </a:solidFill>
                <a:latin typeface="微软雅黑"/>
                <a:ea typeface="微软雅黑"/>
                <a:cs typeface="微软雅黑"/>
              </a:rPr>
              <a:t>注：</a:t>
            </a:r>
            <a:r>
              <a:rPr sz="800" b="0">
                <a:solidFill>
                  <a:srgbClr val="55504E"/>
                </a:solidFill>
                <a:latin typeface="微软雅黑"/>
                <a:ea typeface="微软雅黑"/>
                <a:cs typeface="微软雅黑"/>
              </a:rPr>
              <a:t>以上指标均为持续观察项，尚未验证；需随监管落地与季报数据持续校准。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5989320"/>
            <a:ext cx="11185855" cy="566928"/>
          </a:xfrm>
          <a:prstGeom prst="roundRect">
            <a:avLst>
              <a:gd name="adj" fmla="val 2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5989320"/>
            <a:ext cx="64008" cy="566928"/>
          </a:xfrm>
          <a:prstGeom prst="rect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04088" y="6117336"/>
            <a:ext cx="310896" cy="310896"/>
          </a:xfrm>
          <a:prstGeom prst="ellipse">
            <a:avLst/>
          </a:prstGeom>
          <a:noFill/>
          <a:ln w="20320">
            <a:solidFill>
              <a:srgbClr val="D226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91138" y="6204386"/>
            <a:ext cx="136794" cy="136794"/>
          </a:xfrm>
          <a:prstGeom prst="ellipse">
            <a:avLst/>
          </a:prstGeom>
          <a:solidFill>
            <a:srgbClr val="D2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61288" y="5989320"/>
            <a:ext cx="1031717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50" b="1">
                <a:solidFill>
                  <a:srgbClr val="A81C24"/>
                </a:solidFill>
                <a:latin typeface="微软雅黑"/>
                <a:ea typeface="微软雅黑"/>
                <a:cs typeface="微软雅黑"/>
              </a:rPr>
              <a:t>用「安全关系留存 × 每用户贡献毛利」检验增长质量。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47104"/>
            <a:ext cx="11185855" cy="10972"/>
          </a:xfrm>
          <a:prstGeom prst="rect">
            <a:avLst/>
          </a:prstGeom>
          <a:solidFill>
            <a:srgbClr val="E4DA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6601968"/>
            <a:ext cx="111858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750" b="0">
                <a:solidFill>
                  <a:srgbClr val="8A8380"/>
                </a:solidFill>
                <a:latin typeface="微软雅黑"/>
                <a:ea typeface="微软雅黑"/>
                <a:cs typeface="微软雅黑"/>
              </a:rPr>
              <a:t>来源：原研究测算与监管材料；截至 2026-08-09。三年 CAGR 为假设、置信度中低；仅移动 IAP，非完整 TAM；6 亿美元为简单年化运行率，非全年业绩。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